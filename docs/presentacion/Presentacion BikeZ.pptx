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DAC319-6B7B-4987-97E7-02B171A5D60C}">
  <a:tblStyle styleId="{12DAC319-6B7B-4987-97E7-02B171A5D6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0,5 min. Presentarse y el caso.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h16d62fe3136b0b7a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h16d62fe3136b0b7a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h16d62fe3136b0b7a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 Empresa de artículos de motocross; base transaccional; objetivo de la Fase 1.</a:t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1,5 min. Agrupar los 8 KPI por tema y decir qué decisión apoya cada grupo.</a:t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1,5 min. Cada hallazgo salió del perfilamiento con consultas SQL.</a:t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Explicar por qué la granularidad es la línea de detalle.</a:t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1,5 min. Claves sustitutas, registro −1 y por qué se aplanaron categoría y país.</a:t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Mostrar un paquete: limpieza, origen, columna derivada, destino; en hechos, las búsquedas.</a:t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1,5 min. Origen y destino coinciden en filas e ingreso.</a:t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0,5 min. Cerrar y pasar a preguntas.</a:t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40080" y="292608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388475" y="1294675"/>
            <a:ext cx="3115500" cy="19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Bike Z: </a:t>
            </a:r>
            <a:r>
              <a:rPr lang="en-US"/>
              <a:t>M</a:t>
            </a:r>
            <a:r>
              <a:rPr b="1" lang="en-US" sz="3600">
                <a:solidFill>
                  <a:schemeClr val="lt1"/>
                </a:solidFill>
              </a:rPr>
              <a:t>odelo </a:t>
            </a:r>
            <a:r>
              <a:rPr lang="en-US"/>
              <a:t>D</a:t>
            </a:r>
            <a:r>
              <a:rPr b="1" lang="en-US" sz="3600">
                <a:solidFill>
                  <a:schemeClr val="lt1"/>
                </a:solidFill>
              </a:rPr>
              <a:t>imensional y Proceso ETL</a:t>
            </a:r>
            <a:endParaRPr sz="3600"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263000" y="3801725"/>
            <a:ext cx="66180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en-US" sz="1600">
                <a:solidFill>
                  <a:schemeClr val="lt2"/>
                </a:solidFill>
              </a:rPr>
              <a:t>Certamen 2 – Inteligencia de Negocios · Fase 1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en-US" sz="1600">
                <a:solidFill>
                  <a:schemeClr val="lt2"/>
                </a:solidFill>
              </a:rPr>
              <a:t>Jairo Duzan Palomino Lozada · Paralelo 301 · Prof. Hernan Saavedra Gonzales</a:t>
            </a:r>
            <a:endParaRPr sz="1600"/>
          </a:p>
        </p:txBody>
      </p:sp>
      <p:pic>
        <p:nvPicPr>
          <p:cNvPr id="26" name="Google Shape;2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841975"/>
            <a:ext cx="4023025" cy="268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457200" y="91440"/>
            <a:ext cx="8229600" cy="64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Contexto del caso y objetivo del proyecto</a:t>
            </a:r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406525" y="1016125"/>
            <a:ext cx="279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Empresa y necesidad analítica</a:t>
            </a:r>
            <a:endParaRPr b="1"/>
          </a:p>
        </p:txBody>
      </p:sp>
      <p:sp>
        <p:nvSpPr>
          <p:cNvPr id="34" name="Google Shape;34;p6"/>
          <p:cNvSpPr txBox="1"/>
          <p:nvPr/>
        </p:nvSpPr>
        <p:spPr>
          <a:xfrm>
            <a:off x="457200" y="1776825"/>
            <a:ext cx="4369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Bike Z es una empresa que vende artículos para motocross y que ha experimentado un crecimiento rápido.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mejorar la toma de decisiones, se plantea diseñar e implementar una solución de Inteligencia de Negocios alineada con indicadores clave de desempeño, que incluye modelo dimensional, proceso ETL, cubo OLAP y dashboard en Power BI.</a:t>
            </a:r>
            <a:endParaRPr/>
          </a:p>
        </p:txBody>
      </p:sp>
      <p:pic>
        <p:nvPicPr>
          <p:cNvPr id="35" name="Google Shape;3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125" y="934054"/>
            <a:ext cx="3707700" cy="3809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/>
              <a:t>Volumen de datos y alcance del análisis</a:t>
            </a:r>
            <a:endParaRPr sz="2400"/>
          </a:p>
        </p:txBody>
      </p:sp>
      <p:sp>
        <p:nvSpPr>
          <p:cNvPr id="42" name="Google Shape;42;p7"/>
          <p:cNvSpPr/>
          <p:nvPr/>
        </p:nvSpPr>
        <p:spPr>
          <a:xfrm>
            <a:off x="457200" y="1097280"/>
            <a:ext cx="2606040" cy="10515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68580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31.465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685775" y="1569497"/>
            <a:ext cx="22860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entas totales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total de ventas registradas en el período analizado.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3246120" y="1097280"/>
            <a:ext cx="2606040" cy="10515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3246120" y="1097280"/>
            <a:ext cx="73152" cy="10515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/>
        </p:nvSpPr>
        <p:spPr>
          <a:xfrm>
            <a:off x="347472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121.317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3502150" y="1569497"/>
            <a:ext cx="22860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íneas de detalle de venta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Detalle granulado de cada transacción para análisis profundo.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457178" y="2296767"/>
            <a:ext cx="2606100" cy="10515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457177" y="2296767"/>
            <a:ext cx="73200" cy="1051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 txBox="1"/>
          <p:nvPr/>
        </p:nvSpPr>
        <p:spPr>
          <a:xfrm>
            <a:off x="685778" y="238820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19.820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685775" y="2779826"/>
            <a:ext cx="2286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lientes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clientes representativa para segmentación y análisis.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3246075" y="2296758"/>
            <a:ext cx="2606100" cy="10515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3246075" y="2296758"/>
            <a:ext cx="73200" cy="1051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3474675" y="238819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 txBox="1"/>
          <p:nvPr/>
        </p:nvSpPr>
        <p:spPr>
          <a:xfrm>
            <a:off x="3429000" y="2744025"/>
            <a:ext cx="2423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roductos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Diversidad de productos que permite análisis por categoría y rotación.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57170" y="3496245"/>
            <a:ext cx="2606100" cy="10515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457170" y="3496245"/>
            <a:ext cx="73200" cy="1051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 txBox="1"/>
          <p:nvPr/>
        </p:nvSpPr>
        <p:spPr>
          <a:xfrm>
            <a:off x="685770" y="358768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290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685775" y="3968551"/>
            <a:ext cx="2286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mpleados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empleados que son vendedores.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3246078" y="3496195"/>
            <a:ext cx="2606100" cy="10515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3246078" y="3496195"/>
            <a:ext cx="73200" cy="1051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474678" y="358763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3406125" y="3968551"/>
            <a:ext cx="2286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erritorios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territorios donde la empresa realiza sus operaciones.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 txBox="1"/>
          <p:nvPr>
            <p:ph idx="4294967295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4975" y="1038826"/>
            <a:ext cx="2987049" cy="362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</a:rPr>
              <a:t>KPI definidos para la toma de decisiones</a:t>
            </a:r>
            <a:endParaRPr sz="2400"/>
          </a:p>
        </p:txBody>
      </p:sp>
      <p:sp>
        <p:nvSpPr>
          <p:cNvPr id="74" name="Google Shape;74;p8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685800" y="118872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Ventas y rentabilidad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685800" y="166420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 ventas totales, unidades vendidas y ticket promedio para evaluar el desempeño y evolución global del negocio.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4663440" y="1097280"/>
            <a:ext cx="73152" cy="155448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 txBox="1"/>
          <p:nvPr/>
        </p:nvSpPr>
        <p:spPr>
          <a:xfrm>
            <a:off x="4892040" y="118872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Productos y categor</a:t>
            </a:r>
            <a:r>
              <a:rPr b="1" lang="en-US" sz="2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ías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4892040" y="166420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los productos y categorías de mayor rotación para decisiones de inventario.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457200" y="2834640"/>
            <a:ext cx="73152" cy="1554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 txBox="1"/>
          <p:nvPr/>
        </p:nvSpPr>
        <p:spPr>
          <a:xfrm>
            <a:off x="685800" y="292608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Clientes y vendedores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685800" y="340156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 ventas por vendedor y por cliente para identificar desempeño comercial y concentración de ingresos.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4663440" y="2834640"/>
            <a:ext cx="73152" cy="155448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4892040" y="292608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Territorio y logística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4892040" y="340156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Mide la participación de ventas por territorio y país para orientar inversiones. Además de evaluar el tiempo promedio de envío para medir la eficiencia en la entrega de productos.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 txBox="1"/>
          <p:nvPr>
            <p:ph idx="4294967295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</a:rPr>
              <a:t>Calidad de datos: hallazgos y decisiones</a:t>
            </a:r>
            <a:endParaRPr sz="2400"/>
          </a:p>
        </p:txBody>
      </p:sp>
      <p:sp>
        <p:nvSpPr>
          <p:cNvPr id="97" name="Google Shape;97;p9"/>
          <p:cNvSpPr txBox="1"/>
          <p:nvPr>
            <p:ph idx="4294967295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2926463" y="1652125"/>
            <a:ext cx="29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Ventas sin vendedor asignado</a:t>
            </a:r>
            <a:endParaRPr b="1"/>
          </a:p>
        </p:txBody>
      </p:sp>
      <p:sp>
        <p:nvSpPr>
          <p:cNvPr id="99" name="Google Shape;99;p9"/>
          <p:cNvSpPr txBox="1"/>
          <p:nvPr/>
        </p:nvSpPr>
        <p:spPr>
          <a:xfrm>
            <a:off x="6254400" y="1652113"/>
            <a:ext cx="18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Clientes sin nombre </a:t>
            </a:r>
            <a:endParaRPr b="1"/>
          </a:p>
        </p:txBody>
      </p:sp>
      <p:sp>
        <p:nvSpPr>
          <p:cNvPr id="100" name="Google Shape;100;p9"/>
          <p:cNvSpPr txBox="1"/>
          <p:nvPr/>
        </p:nvSpPr>
        <p:spPr>
          <a:xfrm>
            <a:off x="2926475" y="2052325"/>
            <a:ext cx="2913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mayoría de las ventas no tiene vendedor asignado, pero ese grupo concentra más del 26 % del ingreso, por lo que se reporta como 'Sin vendedor' para no perder esa información.</a:t>
            </a:r>
            <a:endParaRPr/>
          </a:p>
        </p:txBody>
      </p:sp>
      <p:sp>
        <p:nvSpPr>
          <p:cNvPr id="101" name="Google Shape;101;p9"/>
          <p:cNvSpPr txBox="1"/>
          <p:nvPr/>
        </p:nvSpPr>
        <p:spPr>
          <a:xfrm>
            <a:off x="6254400" y="2052325"/>
            <a:ext cx="2432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 gran cantidad de clientes carece de nombre y representan más del 82 % del ingreso, por lo que se mantienen como un grupo propio para preservar el análisis.</a:t>
            </a:r>
            <a:endParaRPr/>
          </a:p>
        </p:txBody>
      </p:sp>
      <p:pic>
        <p:nvPicPr>
          <p:cNvPr id="102" name="Google Shape;10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75" y="1594245"/>
            <a:ext cx="2393650" cy="23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</a:rPr>
              <a:t>Metodología de Kimball: 4 pasos</a:t>
            </a:r>
            <a:endParaRPr sz="2400"/>
          </a:p>
        </p:txBody>
      </p:sp>
      <p:sp>
        <p:nvSpPr>
          <p:cNvPr id="109" name="Google Shape;109;p10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"/>
          <p:cNvSpPr txBox="1"/>
          <p:nvPr/>
        </p:nvSpPr>
        <p:spPr>
          <a:xfrm>
            <a:off x="685800" y="118872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Proceso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685800" y="166420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de artículos de motocross de Bike Z.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proceso que genera los ingresos de la empresa y el que sustenta los KPI definidos.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4663440" y="1097280"/>
            <a:ext cx="73152" cy="155448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4892040" y="118872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2. Granularidad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4823525" y="1490497"/>
            <a:ext cx="37032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fila de la tabla de hechos por cada línea de detalle de venta, identificada por VentaID + DetalleVentaID. Es el nivel más detallado disponible en la base transaccional, lo que permite agregar la información por cualquier dimensión sin pérdida de detalle.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Cardinalidad esperada: 121.317 filas, equivalentes a las líneas de la tabla DetalleVentas de origen.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457200" y="2834640"/>
            <a:ext cx="73152" cy="1554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"/>
          <p:cNvSpPr txBox="1"/>
          <p:nvPr/>
        </p:nvSpPr>
        <p:spPr>
          <a:xfrm>
            <a:off x="685800" y="292608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Dimensiones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685800" y="340156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Incluyen DimFecha, DimCliente, DimProducto, DimEmpleado y DimTerritorio, cada una con atributos clave para el análisis histórico y comercial, como fechas, características de clientes y productos, datos de empleados y territorios.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4663440" y="2834640"/>
            <a:ext cx="73152" cy="155448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 txBox="1"/>
          <p:nvPr/>
        </p:nvSpPr>
        <p:spPr>
          <a:xfrm>
            <a:off x="4892040" y="292608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4. Medidas y </a:t>
            </a:r>
            <a:r>
              <a:rPr b="1" lang="en-US" sz="2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Tabla de Hechos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 txBox="1"/>
          <p:nvPr/>
        </p:nvSpPr>
        <p:spPr>
          <a:xfrm>
            <a:off x="4892040" y="340156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 claves de relación, ventas por línea con medidas de Cantidad, Precio Unitario, Venta Total y Días de envío, incluyendo VentaID y DetalleVentaID como dimensiones degeneradas.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 txBox="1"/>
          <p:nvPr>
            <p:ph idx="4294967295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</a:rPr>
              <a:t>Modelo dimensional (esquema en estrella)</a:t>
            </a:r>
            <a:endParaRPr sz="2400"/>
          </a:p>
        </p:txBody>
      </p:sp>
      <p:pic>
        <p:nvPicPr>
          <p:cNvPr id="132" name="Google Shape;1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925" y="934595"/>
            <a:ext cx="6624730" cy="410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</a:rPr>
              <a:t>Proceso ETL </a:t>
            </a:r>
            <a:r>
              <a:rPr lang="en-US"/>
              <a:t>de la Fase 1</a:t>
            </a:r>
            <a:endParaRPr sz="2400"/>
          </a:p>
        </p:txBody>
      </p:sp>
      <p:sp>
        <p:nvSpPr>
          <p:cNvPr id="139" name="Google Shape;139;p12"/>
          <p:cNvSpPr txBox="1"/>
          <p:nvPr>
            <p:ph idx="4294967295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4092000" y="1502225"/>
            <a:ext cx="30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Implementación en SSIS</a:t>
            </a:r>
            <a:endParaRPr b="1" sz="1700"/>
          </a:p>
        </p:txBody>
      </p:sp>
      <p:sp>
        <p:nvSpPr>
          <p:cNvPr id="141" name="Google Shape;141;p12"/>
          <p:cNvSpPr txBox="1"/>
          <p:nvPr/>
        </p:nvSpPr>
        <p:spPr>
          <a:xfrm>
            <a:off x="4092000" y="2039675"/>
            <a:ext cx="4421400" cy="23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El proceso ETL se desarrolló en el proyecto BikeZ_ETL usando SQL Server Integration Services para cargar la base dimensional desde la transaccional.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Incluye paquetes específicos para DimProducto, DimTerritorio, DimEmpleado, DimCliente y FactVentas que ejecutan limpiezas, transformaciones y asignan claves sustitutas para asegurar la calidad y consistencia de los datos.</a:t>
            </a:r>
            <a:endParaRPr sz="1500"/>
          </a:p>
        </p:txBody>
      </p:sp>
      <p:pic>
        <p:nvPicPr>
          <p:cNvPr id="142" name="Google Shape;14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25" y="1669395"/>
            <a:ext cx="3787200" cy="2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</a:rPr>
              <a:t>Validación de la carga y trazabilidad</a:t>
            </a:r>
            <a:endParaRPr sz="2400"/>
          </a:p>
        </p:txBody>
      </p:sp>
      <p:graphicFrame>
        <p:nvGraphicFramePr>
          <p:cNvPr id="149" name="Google Shape;149;p13"/>
          <p:cNvGraphicFramePr/>
          <p:nvPr/>
        </p:nvGraphicFramePr>
        <p:xfrm>
          <a:off x="45720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{12DAC319-6B7B-4987-97E7-02B171A5D60C}</a:tableStyleId>
              </a:tblPr>
              <a:tblGrid>
                <a:gridCol w="3657600"/>
                <a:gridCol w="2377450"/>
                <a:gridCol w="21945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Control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Origen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Destino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Productos / DIm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Producto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504 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504 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Territorios / DimTerritorio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Empleados / DimEmpleado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290 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290 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Clientes / DimCliente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19.820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19.820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Líneas de detalle / FactVentas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121.317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121.317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Ingreso total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110.373.889,3134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110.373.889,3134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D3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13"/>
          <p:cNvSpPr txBox="1"/>
          <p:nvPr>
            <p:ph idx="4294967295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457200" y="9144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</a:rPr>
              <a:t>Conclusiones</a:t>
            </a:r>
            <a:endParaRPr sz="2400"/>
          </a:p>
        </p:txBody>
      </p:sp>
      <p:sp>
        <p:nvSpPr>
          <p:cNvPr id="157" name="Google Shape;157;p14"/>
          <p:cNvSpPr txBox="1"/>
          <p:nvPr>
            <p:ph idx="4294967295" type="sldNum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650625" y="1597300"/>
            <a:ext cx="24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Proyecto completo fase 1 </a:t>
            </a:r>
            <a:endParaRPr b="1"/>
          </a:p>
        </p:txBody>
      </p:sp>
      <p:sp>
        <p:nvSpPr>
          <p:cNvPr id="159" name="Google Shape;159;p14"/>
          <p:cNvSpPr txBox="1"/>
          <p:nvPr/>
        </p:nvSpPr>
        <p:spPr>
          <a:xfrm>
            <a:off x="650625" y="2331025"/>
            <a:ext cx="265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logró diseñar el modelo dimensional y desarrollar el proceso ETL validado correctamente.El respaldo con datos cargados está disponible.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3518738" y="1597288"/>
            <a:ext cx="24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Análisis y KPI relevantes</a:t>
            </a:r>
            <a:endParaRPr b="1"/>
          </a:p>
        </p:txBody>
      </p:sp>
      <p:sp>
        <p:nvSpPr>
          <p:cNvPr id="161" name="Google Shape;161;p14"/>
          <p:cNvSpPr txBox="1"/>
          <p:nvPr/>
        </p:nvSpPr>
        <p:spPr>
          <a:xfrm>
            <a:off x="3558325" y="2331025"/>
            <a:ext cx="2313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definieron y analizaron KPI claros que apoyan la toma de decisiones.Se consideraron aspectos de calidad de datos para su correcta interpretación.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6480475" y="1597300"/>
            <a:ext cx="19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Fase 2 pendiente</a:t>
            </a:r>
            <a:endParaRPr b="1"/>
          </a:p>
        </p:txBody>
      </p:sp>
      <p:sp>
        <p:nvSpPr>
          <p:cNvPr id="163" name="Google Shape;163;p14"/>
          <p:cNvSpPr txBox="1"/>
          <p:nvPr/>
        </p:nvSpPr>
        <p:spPr>
          <a:xfrm>
            <a:off x="6524875" y="2191675"/>
            <a:ext cx="1887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construcción del cubo OLAP y dashboard en Power BI está en desarrollo.Se espera complementar la solución de Inteligencia de Negocios próximamente.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keZ">
  <a:themeElements>
    <a:clrScheme name="BikeZ">
      <a:dk1>
        <a:srgbClr val="1B1F24"/>
      </a:dk1>
      <a:lt1>
        <a:srgbClr val="FFFFFF"/>
      </a:lt1>
      <a:dk2>
        <a:srgbClr val="1F3A5F"/>
      </a:dk2>
      <a:lt2>
        <a:srgbClr val="EEF2F6"/>
      </a:lt2>
      <a:accent1>
        <a:srgbClr val="E4572E"/>
      </a:accent1>
      <a:accent2>
        <a:srgbClr val="2E86AB"/>
      </a:accent2>
      <a:accent3>
        <a:srgbClr val="4C956C"/>
      </a:accent3>
      <a:accent4>
        <a:srgbClr val="F2A541"/>
      </a:accent4>
      <a:accent5>
        <a:srgbClr val="6C757D"/>
      </a:accent5>
      <a:accent6>
        <a:srgbClr val="7B2D26"/>
      </a:accent6>
      <a:hlink>
        <a:srgbClr val="2E86AB"/>
      </a:hlink>
      <a:folHlink>
        <a:srgbClr val="6C75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keZ">
  <a:themeElements>
    <a:clrScheme name="BikeZ">
      <a:dk1>
        <a:srgbClr val="1B1F24"/>
      </a:dk1>
      <a:lt1>
        <a:srgbClr val="FFFFFF"/>
      </a:lt1>
      <a:dk2>
        <a:srgbClr val="1F3A5F"/>
      </a:dk2>
      <a:lt2>
        <a:srgbClr val="EEF2F6"/>
      </a:lt2>
      <a:accent1>
        <a:srgbClr val="E4572E"/>
      </a:accent1>
      <a:accent2>
        <a:srgbClr val="2E86AB"/>
      </a:accent2>
      <a:accent3>
        <a:srgbClr val="4C956C"/>
      </a:accent3>
      <a:accent4>
        <a:srgbClr val="F2A541"/>
      </a:accent4>
      <a:accent5>
        <a:srgbClr val="6C757D"/>
      </a:accent5>
      <a:accent6>
        <a:srgbClr val="7B2D26"/>
      </a:accent6>
      <a:hlink>
        <a:srgbClr val="2E86AB"/>
      </a:hlink>
      <a:folHlink>
        <a:srgbClr val="6C75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